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5"/>
  </p:normalViewPr>
  <p:slideViewPr>
    <p:cSldViewPr snapToGrid="0" snapToObjects="1">
      <p:cViewPr varScale="1">
        <p:scale>
          <a:sx n="118" d="100"/>
          <a:sy n="118" d="100"/>
        </p:scale>
        <p:origin x="167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P-n23-k8</c:v>
                </c:pt>
                <c:pt idx="1">
                  <c:v>P-n55-k15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545</c:v>
                </c:pt>
                <c:pt idx="1">
                  <c:v>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86-A940-9339-D187B8830F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best_known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P-n23-k8</c:v>
                </c:pt>
                <c:pt idx="1">
                  <c:v>P-n55-k15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529</c:v>
                </c:pt>
                <c:pt idx="1">
                  <c:v>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86-A940-9339-D187B8830F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"/>
                  <a:t>Instance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"/>
                  <a:t>Cost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-20680273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6963988372421188"/>
          <c:y val="6.4016477107028305E-2"/>
          <c:w val="0.25912355713600316"/>
          <c:h val="0.28554729269952367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lang="en" sz="3300" b="1" dirty="0"/>
              <a:t>CVRP: Hybrid ACO </a:t>
            </a:r>
            <a:br>
              <a:rPr lang="ru-RU" sz="3300" b="1" dirty="0"/>
            </a:br>
            <a:r>
              <a:rPr lang="en" sz="3300" b="1" dirty="0"/>
              <a:t>(Ant Colony Optimization + local improvement)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Игорь Рябков</a:t>
            </a:r>
          </a:p>
          <a:p>
            <a:r>
              <a:t>Метаэвристические алгоритмы для маршрутизации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dirty="0"/>
              <a:t>1. </a:t>
            </a:r>
            <a:r>
              <a:rPr dirty="0" err="1"/>
              <a:t>Формулировка</a:t>
            </a:r>
            <a:r>
              <a:rPr dirty="0"/>
              <a:t> </a:t>
            </a:r>
            <a:r>
              <a:rPr dirty="0" err="1"/>
              <a:t>задачи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417638"/>
            <a:ext cx="8001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ru-RU" dirty="0"/>
              <a:t>• Есть депо, клиенты и их спрос; у машин ограниченная грузоподъёмность  </a:t>
            </a:r>
          </a:p>
          <a:p>
            <a:pPr>
              <a:defRPr sz="2400"/>
            </a:pPr>
            <a:r>
              <a:rPr lang="ru-RU" dirty="0"/>
              <a:t>• Нужно построить маршруты так, чтобы каждый клиент был посещён ровно один раз  </a:t>
            </a:r>
          </a:p>
          <a:p>
            <a:pPr>
              <a:defRPr sz="2400"/>
            </a:pPr>
            <a:r>
              <a:rPr lang="ru-RU" dirty="0"/>
              <a:t>• Для каждого маршрута соблюдается </a:t>
            </a:r>
            <a:r>
              <a:rPr lang="en" dirty="0"/>
              <a:t>capacity, </a:t>
            </a:r>
            <a:r>
              <a:rPr lang="ru-RU" dirty="0"/>
              <a:t>общее число маршрутов не превышает </a:t>
            </a:r>
            <a:r>
              <a:rPr lang="en" dirty="0"/>
              <a:t>k  </a:t>
            </a:r>
          </a:p>
          <a:p>
            <a:pPr>
              <a:defRPr sz="2400"/>
            </a:pPr>
            <a:r>
              <a:rPr lang="en" dirty="0"/>
              <a:t>• </a:t>
            </a:r>
            <a:r>
              <a:rPr lang="ru-RU" dirty="0"/>
              <a:t>Цель — минимизировать суммарную длину (стоимость) всех маршрутов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dirty="0"/>
              <a:t>2. </a:t>
            </a:r>
            <a:r>
              <a:rPr dirty="0" err="1"/>
              <a:t>Алгоритм</a:t>
            </a:r>
            <a:r>
              <a:rPr dirty="0"/>
              <a:t> + </a:t>
            </a:r>
            <a:r>
              <a:rPr dirty="0" err="1"/>
              <a:t>улучшения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37457" y="1417638"/>
            <a:ext cx="84690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ru-RU" dirty="0"/>
              <a:t>• Муравьи строят маршруты на основе феромонов и расстояний  </a:t>
            </a:r>
          </a:p>
          <a:p>
            <a:pPr>
              <a:defRPr sz="2400"/>
            </a:pPr>
            <a:r>
              <a:rPr lang="ru-RU" dirty="0"/>
              <a:t>• После каждой итерации феромон испаряется и усиливается на лучших рёбрах  </a:t>
            </a:r>
          </a:p>
          <a:p>
            <a:pPr>
              <a:defRPr sz="2400"/>
            </a:pPr>
            <a:r>
              <a:rPr lang="ru-RU" dirty="0"/>
              <a:t>• Остановка: лимит итераций, стагнация или лимит времени  </a:t>
            </a:r>
          </a:p>
          <a:p>
            <a:pPr>
              <a:defRPr sz="2400"/>
            </a:pPr>
            <a:r>
              <a:rPr lang="ru-RU" dirty="0"/>
              <a:t>• Для стабильности качества: несколько перезапусков и локальное улучшение маршрутов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dirty="0"/>
              <a:t>3. </a:t>
            </a:r>
            <a:r>
              <a:rPr dirty="0" err="1"/>
              <a:t>Итоги</a:t>
            </a:r>
            <a:r>
              <a:rPr dirty="0"/>
              <a:t> 43/4</a:t>
            </a:r>
            <a:r>
              <a:rPr lang="ru-RU" dirty="0"/>
              <a:t>5</a:t>
            </a:r>
            <a:endParaRPr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632731"/>
              </p:ext>
            </p:extLst>
          </p:nvPr>
        </p:nvGraphicFramePr>
        <p:xfrm>
          <a:off x="3017520" y="4029891"/>
          <a:ext cx="56692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EBEA861-8EE2-272D-2EEA-C5F339866194}"/>
              </a:ext>
            </a:extLst>
          </p:cNvPr>
          <p:cNvSpPr txBox="1"/>
          <p:nvPr/>
        </p:nvSpPr>
        <p:spPr>
          <a:xfrm>
            <a:off x="609599" y="1539466"/>
            <a:ext cx="61504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• Total: 45  </a:t>
            </a:r>
          </a:p>
          <a:p>
            <a:r>
              <a:rPr lang="ru-RU" dirty="0"/>
              <a:t>• </a:t>
            </a:r>
            <a:r>
              <a:rPr lang="ru-RU" dirty="0" err="1"/>
              <a:t>Feasible</a:t>
            </a:r>
            <a:r>
              <a:rPr lang="ru-RU" dirty="0"/>
              <a:t>: 43/45  </a:t>
            </a:r>
          </a:p>
          <a:p>
            <a:r>
              <a:rPr lang="ru-RU" dirty="0"/>
              <a:t>• </a:t>
            </a:r>
            <a:r>
              <a:rPr lang="ru-RU" dirty="0" err="1"/>
              <a:t>Average</a:t>
            </a:r>
            <a:r>
              <a:rPr lang="ru-RU" dirty="0"/>
              <a:t> </a:t>
            </a:r>
            <a:r>
              <a:rPr lang="ru-RU" dirty="0" err="1"/>
              <a:t>gap</a:t>
            </a:r>
            <a:r>
              <a:rPr lang="ru-RU" dirty="0"/>
              <a:t>: 7.97%  </a:t>
            </a:r>
          </a:p>
          <a:p>
            <a:r>
              <a:rPr lang="ru-RU" dirty="0"/>
              <a:t>• P-n23-k8: получили 9 маршрутов при </a:t>
            </a:r>
            <a:r>
              <a:rPr lang="ru-RU" dirty="0" err="1"/>
              <a:t>k</a:t>
            </a:r>
            <a:r>
              <a:rPr lang="ru-RU" dirty="0"/>
              <a:t>=8  </a:t>
            </a:r>
          </a:p>
          <a:p>
            <a:r>
              <a:rPr lang="ru-RU" dirty="0"/>
              <a:t>• P-n55-k15: получили 16 маршрутов при </a:t>
            </a:r>
            <a:r>
              <a:rPr lang="ru-RU" dirty="0" err="1"/>
              <a:t>k</a:t>
            </a:r>
            <a:r>
              <a:rPr lang="ru-RU" dirty="0"/>
              <a:t>=15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dirty="0"/>
              <a:t>4. </a:t>
            </a:r>
            <a:r>
              <a:rPr lang="ru-RU" dirty="0"/>
              <a:t>Среднее отклонение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2257" y="1630680"/>
            <a:ext cx="6858352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ru-RU" dirty="0"/>
              <a:t>• Обработано инстансов: 45  </a:t>
            </a:r>
          </a:p>
          <a:p>
            <a:pPr>
              <a:defRPr sz="2400"/>
            </a:pPr>
            <a:r>
              <a:rPr lang="ru-RU" dirty="0"/>
              <a:t>• Валидных решений: 43  </a:t>
            </a:r>
          </a:p>
          <a:p>
            <a:pPr>
              <a:defRPr sz="2400"/>
            </a:pPr>
            <a:r>
              <a:rPr lang="ru-RU" dirty="0"/>
              <a:t>• Средний </a:t>
            </a:r>
            <a:r>
              <a:rPr lang="en" dirty="0"/>
              <a:t>gap: 7.97%  </a:t>
            </a:r>
          </a:p>
          <a:p>
            <a:pPr>
              <a:defRPr sz="2400"/>
            </a:pPr>
            <a:r>
              <a:rPr lang="en" dirty="0"/>
              <a:t>• </a:t>
            </a:r>
            <a:r>
              <a:rPr lang="ru-RU" dirty="0"/>
              <a:t>Медианный </a:t>
            </a:r>
            <a:r>
              <a:rPr lang="en" dirty="0"/>
              <a:t>gap: 6.61%  </a:t>
            </a:r>
          </a:p>
          <a:p>
            <a:pPr>
              <a:defRPr sz="2400"/>
            </a:pPr>
            <a:r>
              <a:rPr lang="en" dirty="0"/>
              <a:t>• </a:t>
            </a:r>
            <a:r>
              <a:rPr lang="ru-RU" dirty="0"/>
              <a:t>Среднее время решения: 3831.25 </a:t>
            </a:r>
            <a:r>
              <a:rPr lang="en" dirty="0" err="1"/>
              <a:t>ms</a:t>
            </a:r>
            <a:r>
              <a:rPr lang="en" dirty="0"/>
              <a:t> </a:t>
            </a:r>
            <a:r>
              <a:rPr lang="ru-RU" dirty="0"/>
              <a:t>на инстанс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t>5</a:t>
            </a:r>
            <a:r>
              <a:rPr dirty="0"/>
              <a:t>. </a:t>
            </a:r>
            <a:r>
              <a:rPr dirty="0" err="1"/>
              <a:t>Зависимость</a:t>
            </a:r>
            <a:r>
              <a:rPr dirty="0"/>
              <a:t> </a:t>
            </a:r>
            <a:r>
              <a:rPr dirty="0" err="1"/>
              <a:t>качества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размерности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7B470C-F066-1D02-29CE-6DF618FDE59E}"/>
              </a:ext>
            </a:extLst>
          </p:cNvPr>
          <p:cNvSpPr txBox="1"/>
          <p:nvPr/>
        </p:nvSpPr>
        <p:spPr>
          <a:xfrm>
            <a:off x="457200" y="1826959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ru-RU" dirty="0"/>
              <a:t>• Корреляция </a:t>
            </a:r>
            <a:r>
              <a:rPr lang="en" dirty="0" err="1"/>
              <a:t>corr</a:t>
            </a:r>
            <a:r>
              <a:rPr lang="en" dirty="0"/>
              <a:t>(n, gap): 0.628  </a:t>
            </a:r>
          </a:p>
          <a:p>
            <a:pPr>
              <a:defRPr sz="2400"/>
            </a:pPr>
            <a:r>
              <a:rPr lang="en" dirty="0"/>
              <a:t>• </a:t>
            </a:r>
            <a:r>
              <a:rPr lang="ru-RU" dirty="0"/>
              <a:t>Корреляция </a:t>
            </a:r>
            <a:r>
              <a:rPr lang="en" dirty="0" err="1"/>
              <a:t>corr</a:t>
            </a:r>
            <a:r>
              <a:rPr lang="en" dirty="0"/>
              <a:t>(n, time): 0.828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6A06F2-159B-8294-603B-08764F96E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30" y="2886555"/>
            <a:ext cx="8672139" cy="3111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220</Words>
  <Application>Microsoft Macintosh PowerPoint</Application>
  <PresentationFormat>Экран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CVRP: Hybrid ACO  (Ant Colony Optimization + local improvement)</vt:lpstr>
      <vt:lpstr>1. Формулировка задачи</vt:lpstr>
      <vt:lpstr>2. Алгоритм + улучшения</vt:lpstr>
      <vt:lpstr>3. Итоги 43/45</vt:lpstr>
      <vt:lpstr>4. Среднее отклонение</vt:lpstr>
      <vt:lpstr>5. Зависимость качества от размерности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Ryabkov Igor</cp:lastModifiedBy>
  <cp:revision>7</cp:revision>
  <dcterms:created xsi:type="dcterms:W3CDTF">2013-01-27T09:14:16Z</dcterms:created>
  <dcterms:modified xsi:type="dcterms:W3CDTF">2026-03-15T19:24:13Z</dcterms:modified>
  <cp:category/>
</cp:coreProperties>
</file>